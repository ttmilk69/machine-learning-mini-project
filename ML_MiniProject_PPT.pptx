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8d8adfd-5064-580c-0ebe-e866c884182e}">
          <p14:sldIdLst>
            <p14:sldId id="256"/>
          </p14:sldIdLst>
        </p14:section>
        <p14:section name="Problem and data" id="{0f9e46bc-08cc-8306-a159-3d9ff5d19ff0}">
          <p14:sldIdLst>
            <p14:sldId id="257"/>
            <p14:sldId id="258"/>
          </p14:sldIdLst>
        </p14:section>
        <p14:section name="Part 1" id="{d3deeea2-44a2-dd85-85b8-0f08c30e2b6e}">
          <p14:sldIdLst>
            <p14:sldId id="259"/>
            <p14:sldId id="260"/>
            <p14:sldId id="261"/>
            <p14:sldId id="262"/>
            <p14:sldId id="263"/>
          </p14:sldIdLst>
        </p14:section>
        <p14:section name="Part 2" id="{34e9b0a1-7e7e-0b15-6974-34a26a50187b}">
          <p14:sldIdLst>
            <p14:sldId id="264"/>
            <p14:sldId id="265"/>
          </p14:sldIdLst>
        </p14:section>
        <p14:section name="Wrap-up" id="{d4b3ed62-8460-8a00-4914-e39eca2250d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0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0262B"/>
                </a:solidFill>
                <a:latin typeface="+mn-lt"/>
              </a:rPr>
              <a:t>Cohen's kappa (test)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8A949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LogReg</c:v>
                  </c:pt>
                  <c:pt idx="1">
                    <c:v>K-means</c:v>
                  </c:pt>
                  <c:pt idx="2">
                    <c:v>RF</c:v>
                  </c:pt>
                  <c:pt idx="3">
                    <c:v>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</c:v>
                </c:pt>
                <c:pt idx="1">
                  <c:v>0.24</c:v>
                </c:pt>
                <c:pt idx="2">
                  <c:v>0.52</c:v>
                </c:pt>
                <c:pt idx="3">
                  <c:v>0.29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LogReg</c:v>
                  </c:pt>
                  <c:pt idx="1">
                    <c:v>K-means</c:v>
                  </c:pt>
                  <c:pt idx="2">
                    <c:v>RF</c:v>
                  </c:pt>
                  <c:pt idx="3">
                    <c:v>NN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0.36</c:v>
                </c:pt>
                <c:pt idx="1">
                  <c:v>0.51</c:v>
                </c:pt>
                <c:pt idx="2">
                  <c:v>0.59</c:v>
                </c:pt>
                <c:pt idx="3">
                  <c:v>0.52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0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7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0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0262B"/>
                </a:solidFill>
                <a:latin typeface="+mn-lt"/>
              </a:rPr>
              <a:t>AUROC (test)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8A949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LogReg</c:v>
                  </c:pt>
                  <c:pt idx="1">
                    <c:v>K-means</c:v>
                  </c:pt>
                  <c:pt idx="2">
                    <c:v>RF</c:v>
                  </c:pt>
                  <c:pt idx="3">
                    <c:v>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0.63</c:v>
                </c:pt>
                <c:pt idx="2">
                  <c:v>0.71</c:v>
                </c:pt>
                <c:pt idx="3">
                  <c:v>0.61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LogReg</c:v>
                  </c:pt>
                  <c:pt idx="1">
                    <c:v>K-means</c:v>
                  </c:pt>
                  <c:pt idx="2">
                    <c:v>RF</c:v>
                  </c:pt>
                  <c:pt idx="3">
                    <c:v>NN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</c:v>
                </c:pt>
                <c:pt idx="1">
                  <c:v>0.8</c:v>
                </c:pt>
                <c:pt idx="2">
                  <c:v>0.91</c:v>
                </c:pt>
                <c:pt idx="3">
                  <c:v>0.87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0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7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0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0262B"/>
                </a:solidFill>
                <a:latin typeface="+mn-lt"/>
              </a:rPr>
              <a:t>R² (test)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8A949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K-means</c:v>
                  </c:pt>
                  <c:pt idx="1">
                    <c:v>RF</c:v>
                  </c:pt>
                  <c:pt idx="2">
                    <c:v>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0.037</c:v>
                </c:pt>
                <c:pt idx="1">
                  <c:v>0.38</c:v>
                </c:pt>
                <c:pt idx="2">
                  <c:v>0.19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K-means</c:v>
                  </c:pt>
                  <c:pt idx="1">
                    <c:v>RF</c:v>
                  </c:pt>
                  <c:pt idx="2">
                    <c:v>NN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-0.111</c:v>
                </c:pt>
                <c:pt idx="1">
                  <c:v>0.476</c:v>
                </c:pt>
                <c:pt idx="2">
                  <c:v>0.444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0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2"/>
        </c:scaling>
        <c:delete val="0"/>
        <c:axPos val="l"/>
        <c:majorGridlines>
          <c:spPr>
            <a:ln w="9525" cap="flat">
              <a:solidFill>
                <a:srgbClr val="E1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7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paper, the two tasks, and that we reproduced it and added one new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tries to predict eruptions at Kilauea only from earthquake catalog features. Two tasks. Part 1 reproduces, Part 2 adds an SVM.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used 3,764 earthquakes; we could not match this exactly because the date range and cutoff are not stated. Labels are our approximation.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test set is never used for tuning. Threshold for kappa is chosen on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1-4 follow the paper. The paper does not give learning rate, weight decay, epochs or the threshold, so we tuned them on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qualitative finding as the paper (RF best), but absolute values higher. K-means and NN are weak in the paper but close to RF in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ours: K-means 1.09, RF 0.75, NN 0.77. Paper: 1.02, 0.64, 0.90.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year-proxy explanation is a hypothesis we did not test. A chronological split would test it. Also mention the paper's text says RF kappa 0.42 but its table says 0.52; we used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SVC value of C and the SVR value of gamma sit at the grid edge, so larger values were not tested. Say this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RF may win: tree splits on location and rate fit our labels including the 2014-16 block. We did not test this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that comparisons should be made within our own runs, not against the paper's absolute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0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669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0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Predicting Eruptive Events at Kilauea from Earthquake Data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Reproducing Mullet, Singh and Wong (CS229, 2019) and extending it with an RBF SVM</a:t>
            </a:r>
            <a:endParaRPr lang="en-US" sz="1800" dirty="0"/>
          </a:p>
        </p:txBody>
      </p:sp>
      <p:sp>
        <p:nvSpPr>
          <p:cNvPr id="4" name="Course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UE24CS352A Machine Learning | Mini-Project Review</a:t>
            </a:r>
            <a:endParaRPr lang="en-US" sz="14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[Member 1 name, SRN]   [Member 2 name, SRN]</a:t>
            </a:r>
            <a:endParaRPr lang="en-US" sz="1400" dirty="0"/>
          </a:p>
        </p:txBody>
      </p:sp>
      <p:sp>
        <p:nvSpPr>
          <p:cNvPr id="6" name="Ring 1"/>
          <p:cNvSpPr/>
          <p:nvPr/>
        </p:nvSpPr>
        <p:spPr>
          <a:xfrm>
            <a:off x="6035040" y="1188720"/>
            <a:ext cx="2743200" cy="2743200"/>
          </a:xfrm>
          <a:prstGeom prst="ellipse">
            <a:avLst/>
          </a:prstGeom>
          <a:ln w="28575">
            <a:solidFill>
              <a:schemeClr val="accent1"/>
            </a:solidFill>
            <a:prstDash val="solid"/>
          </a:ln>
        </p:spPr>
      </p:sp>
      <p:sp>
        <p:nvSpPr>
          <p:cNvPr id="7" name="Ring 2"/>
          <p:cNvSpPr/>
          <p:nvPr/>
        </p:nvSpPr>
        <p:spPr>
          <a:xfrm>
            <a:off x="6492240" y="1645920"/>
            <a:ext cx="1828800" cy="1828800"/>
          </a:xfrm>
          <a:prstGeom prst="ellipse">
            <a:avLst/>
          </a:prstGeom>
          <a:ln w="22225">
            <a:solidFill>
              <a:schemeClr val="accent1"/>
            </a:solidFill>
            <a:prstDash val="solid"/>
          </a:ln>
        </p:spPr>
      </p:sp>
      <p:sp>
        <p:nvSpPr>
          <p:cNvPr id="8" name="Ring 3"/>
          <p:cNvSpPr/>
          <p:nvPr/>
        </p:nvSpPr>
        <p:spPr>
          <a:xfrm>
            <a:off x="6949440" y="2103120"/>
            <a:ext cx="914400" cy="914400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9" name="Ring centre"/>
          <p:cNvSpPr/>
          <p:nvPr/>
        </p:nvSpPr>
        <p:spPr>
          <a:xfrm>
            <a:off x="7278624" y="243230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Card classification"/>
          <p:cNvSpPr/>
          <p:nvPr/>
        </p:nvSpPr>
        <p:spPr>
          <a:xfrm>
            <a:off x="457200" y="123444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regression"/>
          <p:cNvSpPr/>
          <p:nvPr/>
        </p:nvSpPr>
        <p:spPr>
          <a:xfrm>
            <a:off x="4709160" y="123444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A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 number A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Badge B"/>
          <p:cNvSpPr/>
          <p:nvPr/>
        </p:nvSpPr>
        <p:spPr>
          <a:xfrm>
            <a:off x="489204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number B"/>
          <p:cNvSpPr txBox="1"/>
          <p:nvPr/>
        </p:nvSpPr>
        <p:spPr>
          <a:xfrm>
            <a:off x="48920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Head A"/>
          <p:cNvSpPr txBox="1"/>
          <p:nvPr/>
        </p:nvSpPr>
        <p:spPr>
          <a:xfrm>
            <a:off x="1143000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Classification</a:t>
            </a:r>
            <a:endParaRPr lang="en-US" sz="2000" dirty="0"/>
          </a:p>
        </p:txBody>
      </p:sp>
      <p:sp>
        <p:nvSpPr>
          <p:cNvPr id="10" name="Body A"/>
          <p:cNvSpPr txBox="1"/>
          <p:nvPr/>
        </p:nvSpPr>
        <p:spPr>
          <a:xfrm>
            <a:off x="640080" y="19659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Is the volcano erupting right now? One label per earthquake: erupting (1) or repose (0).</a:t>
            </a:r>
            <a:endParaRPr lang="en-US" sz="1600" dirty="0"/>
          </a:p>
        </p:txBody>
      </p:sp>
      <p:sp>
        <p:nvSpPr>
          <p:cNvPr id="11" name="Head B"/>
          <p:cNvSpPr txBox="1"/>
          <p:nvPr/>
        </p:nvSpPr>
        <p:spPr>
          <a:xfrm>
            <a:off x="5394960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Regression</a:t>
            </a:r>
            <a:endParaRPr lang="en-US" sz="2000" dirty="0"/>
          </a:p>
        </p:txBody>
      </p:sp>
      <p:sp>
        <p:nvSpPr>
          <p:cNvPr id="12" name="Body B"/>
          <p:cNvSpPr txBox="1"/>
          <p:nvPr/>
        </p:nvSpPr>
        <p:spPr>
          <a:xfrm>
            <a:off x="4892040" y="19659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How many days until the next eruption starts? Zero if one is already under way.</a:t>
            </a:r>
            <a:endParaRPr lang="en-US" sz="1600" dirty="0"/>
          </a:p>
        </p:txBody>
      </p:sp>
      <p:sp>
        <p:nvSpPr>
          <p:cNvPr id="13" name="Part 1 tag"/>
          <p:cNvSpPr/>
          <p:nvPr/>
        </p:nvSpPr>
        <p:spPr>
          <a:xfrm>
            <a:off x="457200" y="3566160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art 2 tag"/>
          <p:cNvSpPr/>
          <p:nvPr/>
        </p:nvSpPr>
        <p:spPr>
          <a:xfrm>
            <a:off x="4709160" y="3566160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art 1 text"/>
          <p:cNvSpPr txBox="1"/>
          <p:nvPr/>
        </p:nvSpPr>
        <p:spPr>
          <a:xfrm>
            <a:off x="640080" y="35661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Part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Reproduce the paper's pipeline</a:t>
            </a:r>
            <a:endParaRPr lang="en-US" sz="1600" dirty="0"/>
          </a:p>
        </p:txBody>
      </p:sp>
      <p:sp>
        <p:nvSpPr>
          <p:cNvPr id="16" name="Part 2 text"/>
          <p:cNvSpPr txBox="1"/>
          <p:nvPr/>
        </p:nvSpPr>
        <p:spPr>
          <a:xfrm>
            <a:off x="4892040" y="35661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Part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one new model: RBF SVM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457200" y="13258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5,950</a:t>
            </a:r>
            <a:endParaRPr lang="en-US" sz="3600" dirty="0"/>
          </a:p>
        </p:txBody>
      </p:sp>
      <p:sp>
        <p:nvSpPr>
          <p:cNvPr id="5" name="Stat label 1"/>
          <p:cNvSpPr txBox="1"/>
          <p:nvPr/>
        </p:nvSpPr>
        <p:spPr>
          <a:xfrm>
            <a:off x="54864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earthquakes after labeling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606040" y="12344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2606040" y="13258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</a:t>
            </a:r>
            <a:endParaRPr lang="en-US" sz="3600" dirty="0"/>
          </a:p>
        </p:txBody>
      </p:sp>
      <p:sp>
        <p:nvSpPr>
          <p:cNvPr id="8" name="Stat label 2"/>
          <p:cNvSpPr txBox="1"/>
          <p:nvPr/>
        </p:nvSpPr>
        <p:spPr>
          <a:xfrm>
            <a:off x="269748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features per earthquake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754880" y="12344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4754880" y="13258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18.5%</a:t>
            </a:r>
            <a:endParaRPr lang="en-US" sz="3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84632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labeled erupting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903720" y="12344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6903720" y="13258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70/20/10</a:t>
            </a:r>
            <a:endParaRPr lang="en-US" sz="36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995160" y="2148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/ dev / test split</a:t>
            </a:r>
            <a:endParaRPr lang="en-US" sz="1400" dirty="0"/>
          </a:p>
        </p:txBody>
      </p:sp>
      <p:sp>
        <p:nvSpPr>
          <p:cNvPr id="15" name="Data bullets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USGS ComCat (ANSS) catalog, East Rift Zone box, 2000-2016, magnitude 2.0 and above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Features: longitude, latitude, depth, magnitude, 1/7/30-day quake counts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Eruption labels approximated from HVO and Smithsonian reports, because the paper's table is not published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pipeline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457200" y="1261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 number 1"/>
          <p:cNvSpPr txBox="1"/>
          <p:nvPr/>
        </p:nvSpPr>
        <p:spPr>
          <a:xfrm>
            <a:off x="4572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title 1"/>
          <p:cNvSpPr txBox="1"/>
          <p:nvPr/>
        </p:nvSpPr>
        <p:spPr>
          <a:xfrm>
            <a:off x="109728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Download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3474720" y="118872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Catalog from the USGS API, year by year</a:t>
            </a:r>
            <a:endParaRPr lang="en-US" sz="1500" dirty="0"/>
          </a:p>
        </p:txBody>
      </p:sp>
      <p:sp>
        <p:nvSpPr>
          <p:cNvPr id="7" name="Badge 2"/>
          <p:cNvSpPr/>
          <p:nvPr/>
        </p:nvSpPr>
        <p:spPr>
          <a:xfrm>
            <a:off x="457200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number 2"/>
          <p:cNvSpPr txBox="1"/>
          <p:nvPr/>
        </p:nvSpPr>
        <p:spPr>
          <a:xfrm>
            <a:off x="4572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itle 2"/>
          <p:cNvSpPr txBox="1"/>
          <p:nvPr/>
        </p:nvSpPr>
        <p:spPr>
          <a:xfrm>
            <a:off x="1097280" y="18653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Label</a:t>
            </a:r>
            <a:endParaRPr lang="en-US" sz="1800" dirty="0"/>
          </a:p>
        </p:txBody>
      </p:sp>
      <p:sp>
        <p:nvSpPr>
          <p:cNvPr id="10" name="Step text 2"/>
          <p:cNvSpPr txBox="1"/>
          <p:nvPr/>
        </p:nvSpPr>
        <p:spPr>
          <a:xfrm>
            <a:off x="3474720" y="186537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Three eruption episodes, plus rate features</a:t>
            </a:r>
            <a:endParaRPr lang="en-US" sz="1500" dirty="0"/>
          </a:p>
        </p:txBody>
      </p:sp>
      <p:sp>
        <p:nvSpPr>
          <p:cNvPr id="11" name="Badge 3"/>
          <p:cNvSpPr/>
          <p:nvPr/>
        </p:nvSpPr>
        <p:spPr>
          <a:xfrm>
            <a:off x="457200" y="26151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 number 3"/>
          <p:cNvSpPr txBox="1"/>
          <p:nvPr/>
        </p:nvSpPr>
        <p:spPr>
          <a:xfrm>
            <a:off x="45720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title 3"/>
          <p:cNvSpPr txBox="1"/>
          <p:nvPr/>
        </p:nvSpPr>
        <p:spPr>
          <a:xfrm>
            <a:off x="1097280" y="2542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Split and scale</a:t>
            </a:r>
            <a:endParaRPr lang="en-US" sz="1800" dirty="0"/>
          </a:p>
        </p:txBody>
      </p:sp>
      <p:sp>
        <p:nvSpPr>
          <p:cNvPr id="14" name="Step text 3"/>
          <p:cNvSpPr txBox="1"/>
          <p:nvPr/>
        </p:nvSpPr>
        <p:spPr>
          <a:xfrm>
            <a:off x="3474720" y="25420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Stratified 70/20/10, training statistics only</a:t>
            </a:r>
            <a:endParaRPr lang="en-US" sz="1500" dirty="0"/>
          </a:p>
        </p:txBody>
      </p:sp>
      <p:sp>
        <p:nvSpPr>
          <p:cNvPr id="15" name="Badge 4"/>
          <p:cNvSpPr/>
          <p:nvPr/>
        </p:nvSpPr>
        <p:spPr>
          <a:xfrm>
            <a:off x="457200" y="3291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 number 4"/>
          <p:cNvSpPr txBox="1"/>
          <p:nvPr/>
        </p:nvSpPr>
        <p:spPr>
          <a:xfrm>
            <a:off x="45720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 title 4"/>
          <p:cNvSpPr txBox="1"/>
          <p:nvPr/>
        </p:nvSpPr>
        <p:spPr>
          <a:xfrm>
            <a:off x="1097280" y="32186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Train and tune</a:t>
            </a:r>
            <a:endParaRPr lang="en-US" sz="1800" dirty="0"/>
          </a:p>
        </p:txBody>
      </p:sp>
      <p:sp>
        <p:nvSpPr>
          <p:cNvPr id="18" name="Step text 4"/>
          <p:cNvSpPr txBox="1"/>
          <p:nvPr/>
        </p:nvSpPr>
        <p:spPr>
          <a:xfrm>
            <a:off x="3474720" y="321868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Hyperparameters chosen on dev only</a:t>
            </a:r>
            <a:endParaRPr lang="en-US" sz="1500" dirty="0"/>
          </a:p>
        </p:txBody>
      </p:sp>
      <p:sp>
        <p:nvSpPr>
          <p:cNvPr id="19" name="Badge 5"/>
          <p:cNvSpPr/>
          <p:nvPr/>
        </p:nvSpPr>
        <p:spPr>
          <a:xfrm>
            <a:off x="457200" y="39684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 number 5"/>
          <p:cNvSpPr txBox="1"/>
          <p:nvPr/>
        </p:nvSpPr>
        <p:spPr>
          <a:xfrm>
            <a:off x="45720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Step title 5"/>
          <p:cNvSpPr txBox="1"/>
          <p:nvPr/>
        </p:nvSpPr>
        <p:spPr>
          <a:xfrm>
            <a:off x="1097280" y="38953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</a:t>
            </a:r>
            <a:endParaRPr lang="en-US" sz="1800" dirty="0"/>
          </a:p>
        </p:txBody>
      </p:sp>
      <p:sp>
        <p:nvSpPr>
          <p:cNvPr id="22" name="Step text 5"/>
          <p:cNvSpPr txBox="1"/>
          <p:nvPr/>
        </p:nvSpPr>
        <p:spPr>
          <a:xfrm>
            <a:off x="3474720" y="389534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 set: kappa, AUROC, RMSE, R²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Models and settings</a:t>
            </a:r>
            <a:endParaRPr lang="en-US" sz="3200" dirty="0"/>
          </a:p>
        </p:txBody>
      </p:sp>
      <p:graphicFrame>
        <p:nvGraphicFramePr>
          <p:cNvPr id="6" name="Mode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566160"/>
                <a:gridCol w="2377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Tuned on dev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Classification only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Decision threshold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K-means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 clusters per class; 10 for regression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features per split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Depth, number of trees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Neural network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x 1,000 ReLU, SGD, batch 50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Learning rate, weight decay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SVM (new)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RBF kernel, SVC and SVR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C, gamma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Classification results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10972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4572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Random forest is best in both. Our scores are higher for every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Regression results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gression notes card"/>
          <p:cNvSpPr/>
          <p:nvPr/>
        </p:nvSpPr>
        <p:spPr>
          <a:xfrm>
            <a:off x="5394960" y="12344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gression notes"/>
          <p:cNvSpPr txBox="1"/>
          <p:nvPr/>
        </p:nvSpPr>
        <p:spPr>
          <a:xfrm>
            <a:off x="5577840" y="137160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forest is best: R² 0.476 vs 0.38 in the paper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K-means regression has no skill in either run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RMSE is not strictly comparable, since it depends on our eruption dates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our scores are higher</a:t>
            </a:r>
            <a:endParaRPr lang="en-US" sz="3200" dirty="0"/>
          </a:p>
        </p:txBody>
      </p:sp>
      <p:sp>
        <p:nvSpPr>
          <p:cNvPr id="3" name="Why card 1"/>
          <p:cNvSpPr/>
          <p:nvPr/>
        </p:nvSpPr>
        <p:spPr>
          <a:xfrm>
            <a:off x="457200" y="118872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 1"/>
          <p:cNvSpPr txBox="1"/>
          <p:nvPr/>
        </p:nvSpPr>
        <p:spPr>
          <a:xfrm>
            <a:off x="6400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Why head 1"/>
          <p:cNvSpPr txBox="1"/>
          <p:nvPr/>
        </p:nvSpPr>
        <p:spPr>
          <a:xfrm>
            <a:off x="11430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Approximate labels</a:t>
            </a:r>
            <a:endParaRPr lang="en-US" sz="1700" dirty="0"/>
          </a:p>
        </p:txBody>
      </p:sp>
      <p:sp>
        <p:nvSpPr>
          <p:cNvPr id="7" name="Why body 1"/>
          <p:cNvSpPr txBox="1"/>
          <p:nvPr/>
        </p:nvSpPr>
        <p:spPr>
          <a:xfrm>
            <a:off x="640080" y="184708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2015-16 quakes are erupting, so features may act as a year proxy (likely, untested)</a:t>
            </a:r>
            <a:endParaRPr lang="en-US" sz="1400" dirty="0"/>
          </a:p>
        </p:txBody>
      </p:sp>
      <p:sp>
        <p:nvSpPr>
          <p:cNvPr id="8" name="Why card 2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89204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 number 2"/>
          <p:cNvSpPr txBox="1"/>
          <p:nvPr/>
        </p:nvSpPr>
        <p:spPr>
          <a:xfrm>
            <a:off x="489204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Why head 2"/>
          <p:cNvSpPr txBox="1"/>
          <p:nvPr/>
        </p:nvSpPr>
        <p:spPr>
          <a:xfrm>
            <a:off x="539496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Random split</a:t>
            </a:r>
            <a:endParaRPr lang="en-US" sz="1700" dirty="0"/>
          </a:p>
        </p:txBody>
      </p:sp>
      <p:sp>
        <p:nvSpPr>
          <p:cNvPr id="12" name="Why body 2"/>
          <p:cNvSpPr txBox="1"/>
          <p:nvPr/>
        </p:nvSpPr>
        <p:spPr>
          <a:xfrm>
            <a:off x="4892040" y="184708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Neighbouring quakes with overlapping rate windows land in both train and test</a:t>
            </a:r>
            <a:endParaRPr lang="en-US" sz="1400" dirty="0"/>
          </a:p>
        </p:txBody>
      </p:sp>
      <p:sp>
        <p:nvSpPr>
          <p:cNvPr id="13" name="Why card 3"/>
          <p:cNvSpPr/>
          <p:nvPr/>
        </p:nvSpPr>
        <p:spPr>
          <a:xfrm>
            <a:off x="457200" y="288036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40080" y="30449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 number 3"/>
          <p:cNvSpPr txBox="1"/>
          <p:nvPr/>
        </p:nvSpPr>
        <p:spPr>
          <a:xfrm>
            <a:off x="64008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Why head 3"/>
          <p:cNvSpPr txBox="1"/>
          <p:nvPr/>
        </p:nvSpPr>
        <p:spPr>
          <a:xfrm>
            <a:off x="1143000" y="3044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Different catalog</a:t>
            </a:r>
            <a:endParaRPr lang="en-US" sz="1700" dirty="0"/>
          </a:p>
        </p:txBody>
      </p:sp>
      <p:sp>
        <p:nvSpPr>
          <p:cNvPr id="17" name="Why body 3"/>
          <p:cNvSpPr txBox="1"/>
          <p:nvPr/>
        </p:nvSpPr>
        <p:spPr>
          <a:xfrm>
            <a:off x="640080" y="35387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5,950 vs 3,764 events; threshold tuned on dev to maximize kappa</a:t>
            </a:r>
            <a:endParaRPr lang="en-US" sz="1400" dirty="0"/>
          </a:p>
        </p:txBody>
      </p:sp>
      <p:sp>
        <p:nvSpPr>
          <p:cNvPr id="18" name="Why card 4"/>
          <p:cNvSpPr/>
          <p:nvPr/>
        </p:nvSpPr>
        <p:spPr>
          <a:xfrm>
            <a:off x="4709160" y="288036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4892040" y="30449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 number 4"/>
          <p:cNvSpPr txBox="1"/>
          <p:nvPr/>
        </p:nvSpPr>
        <p:spPr>
          <a:xfrm>
            <a:off x="48920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Why head 4"/>
          <p:cNvSpPr txBox="1"/>
          <p:nvPr/>
        </p:nvSpPr>
        <p:spPr>
          <a:xfrm>
            <a:off x="5394960" y="3044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Unreported settings</a:t>
            </a:r>
            <a:endParaRPr lang="en-US" sz="1700" dirty="0"/>
          </a:p>
        </p:txBody>
      </p:sp>
      <p:sp>
        <p:nvSpPr>
          <p:cNvPr id="22" name="Why body 4"/>
          <p:cNvSpPr txBox="1"/>
          <p:nvPr/>
        </p:nvSpPr>
        <p:spPr>
          <a:xfrm>
            <a:off x="4892040" y="35387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NN and forest hyperparameters were tuned by us; NN varies slightly between runs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 2: RBF SVM</a:t>
            </a:r>
            <a:endParaRPr lang="en-US" sz="3200" dirty="0"/>
          </a:p>
        </p:txBody>
      </p:sp>
      <p:sp>
        <p:nvSpPr>
          <p:cNvPr id="3" name="SVM bullets"/>
          <p:cNvSpPr txBox="1"/>
          <p:nvPr/>
        </p:nvSpPr>
        <p:spPr>
          <a:xfrm>
            <a:off x="457200" y="12344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in the paper, and handles both tasks (SVC and SVR)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Smooth non-linear boundary, a contrast to the forest's axis-aligned splits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split, scaling and metrics as the other models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Tuned on dev: SVC C = 100, gamma = scale; SVR C = 1, gamma = 1</a:t>
            </a:r>
            <a:endParaRPr lang="en-US" sz="1600" dirty="0"/>
          </a:p>
        </p:txBody>
      </p:sp>
      <p:sp>
        <p:nvSpPr>
          <p:cNvPr id="4" name="SVM stat card 1"/>
          <p:cNvSpPr/>
          <p:nvPr/>
        </p:nvSpPr>
        <p:spPr>
          <a:xfrm>
            <a:off x="5669280" y="1234440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VM stat 1"/>
          <p:cNvSpPr txBox="1"/>
          <p:nvPr/>
        </p:nvSpPr>
        <p:spPr>
          <a:xfrm>
            <a:off x="576072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0.55</a:t>
            </a:r>
            <a:endParaRPr lang="en-US" sz="3400" dirty="0"/>
          </a:p>
        </p:txBody>
      </p:sp>
      <p:sp>
        <p:nvSpPr>
          <p:cNvPr id="6" name="SVM label 1"/>
          <p:cNvSpPr txBox="1"/>
          <p:nvPr/>
        </p:nvSpPr>
        <p:spPr>
          <a:xfrm>
            <a:off x="7178040" y="1234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kappa</a:t>
            </a:r>
            <a:endParaRPr lang="en-US" sz="1500" dirty="0"/>
          </a:p>
        </p:txBody>
      </p:sp>
      <p:sp>
        <p:nvSpPr>
          <p:cNvPr id="7" name="SVM stat card 2"/>
          <p:cNvSpPr/>
          <p:nvPr/>
        </p:nvSpPr>
        <p:spPr>
          <a:xfrm>
            <a:off x="5669280" y="2286000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VM stat 2"/>
          <p:cNvSpPr txBox="1"/>
          <p:nvPr/>
        </p:nvSpPr>
        <p:spPr>
          <a:xfrm>
            <a:off x="576072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0.82</a:t>
            </a:r>
            <a:endParaRPr lang="en-US" sz="3400" dirty="0"/>
          </a:p>
        </p:txBody>
      </p:sp>
      <p:sp>
        <p:nvSpPr>
          <p:cNvPr id="9" name="SVM label 2"/>
          <p:cNvSpPr txBox="1"/>
          <p:nvPr/>
        </p:nvSpPr>
        <p:spPr>
          <a:xfrm>
            <a:off x="717804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AUROC</a:t>
            </a:r>
            <a:endParaRPr lang="en-US" sz="1500" dirty="0"/>
          </a:p>
        </p:txBody>
      </p:sp>
      <p:sp>
        <p:nvSpPr>
          <p:cNvPr id="10" name="SVM stat card 3"/>
          <p:cNvSpPr/>
          <p:nvPr/>
        </p:nvSpPr>
        <p:spPr>
          <a:xfrm>
            <a:off x="5669280" y="3337560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VM stat 3"/>
          <p:cNvSpPr txBox="1"/>
          <p:nvPr/>
        </p:nvSpPr>
        <p:spPr>
          <a:xfrm>
            <a:off x="576072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0.41</a:t>
            </a:r>
            <a:endParaRPr lang="en-US" sz="3400" dirty="0"/>
          </a:p>
        </p:txBody>
      </p:sp>
      <p:sp>
        <p:nvSpPr>
          <p:cNvPr id="12" name="SVM label 3"/>
          <p:cNvSpPr txBox="1"/>
          <p:nvPr/>
        </p:nvSpPr>
        <p:spPr>
          <a:xfrm>
            <a:off x="7178040" y="3337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regression R²</a:t>
            </a:r>
            <a:endParaRPr lang="en-US" sz="1500" dirty="0"/>
          </a:p>
        </p:txBody>
      </p:sp>
      <p:sp>
        <p:nvSpPr>
          <p:cNvPr id="13" name="SVM caption"/>
          <p:cNvSpPr txBox="1"/>
          <p:nvPr/>
        </p:nvSpPr>
        <p:spPr>
          <a:xfrm>
            <a:off x="566928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Test-set results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All models compared</a:t>
            </a:r>
            <a:endParaRPr lang="en-US" sz="32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 (ours, test)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Kappa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AUROC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0.36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K-means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0.80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1.09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-0.111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0.476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Neural network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0.77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0.444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SVM (new)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0.55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0.82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0.80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0.407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omparison notes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SVM is 2nd on kappa, 3rd on AUROC and 3rd of 4 on regression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overfits less than RF and NN (kappa 0.60 train to 0.55 test)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110 erupting test quakes, so 0.03 kappa gaps are within noise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Conclusions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457200" y="1298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 number 1"/>
          <p:cNvSpPr txBox="1"/>
          <p:nvPr/>
        </p:nvSpPr>
        <p:spPr>
          <a:xfrm>
            <a:off x="45720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Conclusion head 1"/>
          <p:cNvSpPr txBox="1"/>
          <p:nvPr/>
        </p:nvSpPr>
        <p:spPr>
          <a:xfrm>
            <a:off x="109728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Reproduced</a:t>
            </a:r>
            <a:endParaRPr lang="en-US" sz="1800" dirty="0"/>
          </a:p>
        </p:txBody>
      </p:sp>
      <p:sp>
        <p:nvSpPr>
          <p:cNvPr id="6" name="Conclusion text 1"/>
          <p:cNvSpPr txBox="1"/>
          <p:nvPr/>
        </p:nvSpPr>
        <p:spPr>
          <a:xfrm>
            <a:off x="3200400" y="1188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Same pipeline and same findings as the paper: RF is best and K-means regression fails</a:t>
            </a:r>
            <a:endParaRPr lang="en-US" sz="1500" dirty="0"/>
          </a:p>
        </p:txBody>
      </p:sp>
      <p:sp>
        <p:nvSpPr>
          <p:cNvPr id="7" name="Badge 2"/>
          <p:cNvSpPr/>
          <p:nvPr/>
        </p:nvSpPr>
        <p:spPr>
          <a:xfrm>
            <a:off x="457200" y="21671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number 2"/>
          <p:cNvSpPr txBox="1"/>
          <p:nvPr/>
        </p:nvSpPr>
        <p:spPr>
          <a:xfrm>
            <a:off x="45720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Conclusion head 2"/>
          <p:cNvSpPr txBox="1"/>
          <p:nvPr/>
        </p:nvSpPr>
        <p:spPr>
          <a:xfrm>
            <a:off x="1097280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Higher scores</a:t>
            </a:r>
            <a:endParaRPr lang="en-US" sz="1800" dirty="0"/>
          </a:p>
        </p:txBody>
      </p:sp>
      <p:sp>
        <p:nvSpPr>
          <p:cNvPr id="10" name="Conclusion text 2"/>
          <p:cNvSpPr txBox="1"/>
          <p:nvPr/>
        </p:nvSpPr>
        <p:spPr>
          <a:xfrm>
            <a:off x="3200400" y="2057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Our absolute values exceed the paper's, mainly from approximate labels and a different catalog</a:t>
            </a:r>
            <a:endParaRPr lang="en-US" sz="1500" dirty="0"/>
          </a:p>
        </p:txBody>
      </p:sp>
      <p:sp>
        <p:nvSpPr>
          <p:cNvPr id="11" name="Badge 3"/>
          <p:cNvSpPr/>
          <p:nvPr/>
        </p:nvSpPr>
        <p:spPr>
          <a:xfrm>
            <a:off x="457200" y="30358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 number 3"/>
          <p:cNvSpPr txBox="1"/>
          <p:nvPr/>
        </p:nvSpPr>
        <p:spPr>
          <a:xfrm>
            <a:off x="45720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Conclusion head 3"/>
          <p:cNvSpPr txBox="1"/>
          <p:nvPr/>
        </p:nvSpPr>
        <p:spPr>
          <a:xfrm>
            <a:off x="109728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New model</a:t>
            </a:r>
            <a:endParaRPr lang="en-US" sz="1800" dirty="0"/>
          </a:p>
        </p:txBody>
      </p:sp>
      <p:sp>
        <p:nvSpPr>
          <p:cNvPr id="14" name="Conclusion text 3"/>
          <p:cNvSpPr txBox="1"/>
          <p:nvPr/>
        </p:nvSpPr>
        <p:spPr>
          <a:xfrm>
            <a:off x="3200400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SVM performs close to the NN and a little below the random forest, and overfits less</a:t>
            </a:r>
            <a:endParaRPr lang="en-US" sz="1500" dirty="0"/>
          </a:p>
        </p:txBody>
      </p:sp>
      <p:sp>
        <p:nvSpPr>
          <p:cNvPr id="15" name="Badge 4"/>
          <p:cNvSpPr/>
          <p:nvPr/>
        </p:nvSpPr>
        <p:spPr>
          <a:xfrm>
            <a:off x="457200" y="39044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 number 4"/>
          <p:cNvSpPr txBox="1"/>
          <p:nvPr/>
        </p:nvSpPr>
        <p:spPr>
          <a:xfrm>
            <a:off x="457200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Conclusion head 4"/>
          <p:cNvSpPr txBox="1"/>
          <p:nvPr/>
        </p:nvSpPr>
        <p:spPr>
          <a:xfrm>
            <a:off x="109728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8" name="Conclusion text 4"/>
          <p:cNvSpPr txBox="1"/>
          <p:nvPr/>
        </p:nvSpPr>
        <p:spPr>
          <a:xfrm>
            <a:off x="3200400" y="3794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Real eruption table, chronological split, wider SVM grid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lauea">
  <a:themeElements>
    <a:clrScheme name="Kilauea">
      <a:dk1>
        <a:srgbClr val="20262B"/>
      </a:dk1>
      <a:lt1>
        <a:srgbClr val="FFFFFF"/>
      </a:lt1>
      <a:dk2>
        <a:srgbClr val="3A444C"/>
      </a:dk2>
      <a:lt2>
        <a:srgbClr val="F1F3F5"/>
      </a:lt2>
      <a:accent1>
        <a:srgbClr val="D9482B"/>
      </a:accent1>
      <a:accent2>
        <a:srgbClr val="8A949C"/>
      </a:accent2>
      <a:accent3>
        <a:srgbClr val="2A7F8E"/>
      </a:accent3>
      <a:accent4>
        <a:srgbClr val="E8A33D"/>
      </a:accent4>
      <a:accent5>
        <a:srgbClr val="5C6770"/>
      </a:accent5>
      <a:accent6>
        <a:srgbClr val="B8C0C6"/>
      </a:accent6>
      <a:hlink>
        <a:srgbClr val="2A7F8E"/>
      </a:hlink>
      <a:folHlink>
        <a:srgbClr val="5C6770"/>
      </a:folHlink>
    </a:clrScheme>
    <a:fontScheme name="Kilaue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Eruptive Events at Kilauea - Mini-Project Review</dc:title>
  <dc:subject>PptxGenJS Presentation</dc:subject>
  <dc:creator>PptxGenJS</dc:creator>
  <cp:lastModifiedBy>PptxGenJS</cp:lastModifiedBy>
  <cp:revision>1</cp:revision>
  <dcterms:created xsi:type="dcterms:W3CDTF">2026-10-03T12:16:16Z</dcterms:created>
  <dcterms:modified xsi:type="dcterms:W3CDTF">2026-10-03T12:16:16Z</dcterms:modified>
</cp:coreProperties>
</file>